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256" r:id="rId4"/>
    <p:sldId id="257" r:id="rId6"/>
    <p:sldId id="294" r:id="rId7"/>
    <p:sldId id="295" r:id="rId8"/>
    <p:sldId id="296" r:id="rId9"/>
    <p:sldId id="297" r:id="rId10"/>
    <p:sldId id="298" r:id="rId11"/>
    <p:sldId id="282" r:id="rId12"/>
  </p:sldIdLst>
  <p:sldSz cx="12192000" cy="6858000"/>
  <p:notesSz cx="6858000" cy="9144000"/>
  <p:custDataLst>
    <p:tags r:id="rId17"/>
  </p:custDataLst>
  <p:defaultTextStyle>
    <a:defPPr>
      <a:defRPr lang="en-GB"/>
    </a:defPPr>
    <a:lvl1pPr marL="0" lvl="0" indent="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1143000" lvl="2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600200" lvl="3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2057400" lvl="4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lvl="5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lvl="6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lvl="7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lvl="8" indent="-228600" algn="l" defTabSz="914400" rtl="0" eaLnBrk="1" fontAlgn="base" latinLnBrk="0" hangingPunct="1">
      <a:lnSpc>
        <a:spcPct val="93000"/>
      </a:lnSpc>
      <a:spcBef>
        <a:spcPts val="15"/>
      </a:spcBef>
      <a:spcAft>
        <a:spcPts val="15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邹若一(邹邹)" initials="邹" lastIdx="0" clrIdx="0"/>
  <p:cmAuthor id="2" name="Li.Su0" initials="L" lastIdx="0" clrIdx="1"/>
  <p:cmAuthor id="3" name="郝玉玲" initials="郝" lastIdx="0" clrIdx="2"/>
  <p:cmAuthor id="4" name="Mia Vida Villanueva" initials="M" lastIdx="0" clrIdx="3"/>
  <p:cmAuthor id="5" name="Administrator" initials="A" lastIdx="0" clrIdx="4"/>
  <p:cmAuthor id="6" name="宋洁然" initials="宋" lastIdx="0" clrIdx="5"/>
  <p:cmAuthor id="7" name="ming qiu" initials="m" lastIdx="0" clrIdx="6"/>
  <p:cmAuthor id="8" name="1206988966@qq.com" initials="1" lastIdx="0" clrIdx="7"/>
  <p:cmAuthor id="9" name="姜伟光" initials="姜" lastIdx="0" clrIdx="8"/>
  <p:cmAuthor id="10" name=" " initials=" " lastIdx="0" clrIdx="9"/>
  <p:cmAuthor id="11" name="sulib" initials="s" lastIdx="0" clrIdx="10"/>
  <p:cmAuthor id="12" name="cwb" initials="c" lastIdx="0" clrIdx="11"/>
  <p:cmAuthor id="13" name="administrator0" initials="a" lastIdx="0" clrIdx="12"/>
  <p:cmAuthor id="14" name="Meiyan.Liao" initials="M" lastIdx="0" clrIdx="13"/>
  <p:cmAuthor id="15" name="DELL" initials="D" lastIdx="0" clrIdx="14"/>
  <p:cmAuthor id="16" name="Yaozhuan.Nong" initials="Y" lastIdx="0" clrIdx="15"/>
  <p:cmAuthor id="17" name="作者" initials="作" lastIdx="0" clrIdx="16"/>
  <p:cmAuthor id="18" name="张振辉" initials="张" lastIdx="0" clrIdx="17"/>
  <p:cmAuthor id="19" name="曹亚兵_jQfyBBn2" initials="曹" lastIdx="0" clrIdx="18"/>
  <p:cmAuthor id="20" name="." initials="." lastIdx="0" clrIdx="19"/>
  <p:cmAuthor id="21" name="洪璇(富贵er)" initials="洪" lastIdx="0" clrIdx="20"/>
  <p:cmAuthor id="22" name="樊宇佼" initials="樊" lastIdx="0" clrIdx="21"/>
  <p:cmAuthor id="23" name="LIjingfu" initials="L" lastIdx="0" clrIdx="2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082"/>
        <p:guide pos="2912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14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幻灯片图像占位符 6144"/>
          <p:cNvSpPr>
            <a:spLocks noGrp="1"/>
          </p:cNvSpPr>
          <p:nvPr>
            <p:ph type="sldImg"/>
          </p:nvPr>
        </p:nvSpPr>
        <p:spPr>
          <a:xfrm>
            <a:off x="215900" y="812800"/>
            <a:ext cx="7126288" cy="40068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文本占位符 6145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/>
            <a:endParaRPr lang="en-GB"/>
          </a:p>
        </p:txBody>
      </p:sp>
      <p:sp>
        <p:nvSpPr>
          <p:cNvPr id="2" name="页眉占位符 6146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defTabSz="914400">
              <a:tabLst>
                <a:tab pos="914400" algn="l"/>
                <a:tab pos="1828800" algn="l"/>
                <a:tab pos="2743200" algn="l"/>
              </a:tabLst>
            </a:pPr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6148" name="日期占位符 6147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6149" name="页脚占位符 6148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defTabSz="914400">
              <a:tabLst>
                <a:tab pos="914400" algn="l"/>
                <a:tab pos="1828800" algn="l"/>
                <a:tab pos="2743200" algn="l"/>
              </a:tabLst>
            </a:pPr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6150" name="灯片编号占位符 6149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9144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8195" name="幻灯片图像占位符 34816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8196" name="文本占位符 34817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0243" name="幻灯片图像占位符 35840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0244" name="文本占位符 35841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4339" name="幻灯片图像占位符 37888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4340" name="文本占位符 37889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4339" name="幻灯片图像占位符 37888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4340" name="文本占位符 37889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4339" name="幻灯片图像占位符 37888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4340" name="文本占位符 37889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4339" name="幻灯片图像占位符 37888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4340" name="文本占位符 37889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14339" name="幻灯片图像占位符 37888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14340" name="文本占位符 37889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42" name="灯片编号占位符 1"/>
          <p:cNvSpPr/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b" anchorCtr="0"/>
          <a:p>
            <a:pPr lvl="0" algn="r" defTabSz="914400">
              <a:tabLst>
                <a:tab pos="914400" algn="l"/>
                <a:tab pos="1828800" algn="l"/>
                <a:tab pos="2743200" algn="l"/>
              </a:tabLst>
            </a:pPr>
            <a:fld id="{9A0DB2DC-4C9A-4742-B13C-FB6460FD3503}" type="slidenum">
              <a:rPr lang="en-US" altLang="zh-CN" sz="1400" dirty="0" err="1">
                <a:latin typeface="Times New Roman" panose="02020603050405020304" pitchFamily="16" charset="0"/>
              </a:rPr>
            </a:fld>
            <a:endParaRPr lang="en-US" altLang="zh-CN" sz="1400" dirty="0" err="1">
              <a:latin typeface="Times New Roman" panose="02020603050405020304" pitchFamily="16" charset="0"/>
              <a:ea typeface="DejaVu Sans" panose="020B0603030804020204" charset="0"/>
            </a:endParaRPr>
          </a:p>
        </p:txBody>
      </p:sp>
      <p:sp>
        <p:nvSpPr>
          <p:cNvPr id="61443" name="幻灯片图像占位符 61440"/>
          <p:cNvSpPr txBox="1">
            <a:spLocks noGrp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/>
          </a:ln>
        </p:spPr>
      </p:sp>
      <p:sp>
        <p:nvSpPr>
          <p:cNvPr id="61444" name="文本占位符 61441"/>
          <p:cNvSpPr txBox="1"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</p:spPr>
        <p:txBody>
          <a:bodyPr wrap="none" lIns="0" tIns="0" rIns="0" bIns="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6" descr="/Users/chenjiayi/Downloads/设计支持/2022年度/吉利百矿ppt/111封面_画板 1.jpg111封面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9" descr="辅助图形_画板 1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2482850"/>
            <a:ext cx="2557463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图片 15" descr="logo源文件-06"/>
          <p:cNvPicPr>
            <a:picLocks noChangeAspect="1"/>
          </p:cNvPicPr>
          <p:nvPr/>
        </p:nvPicPr>
        <p:blipFill>
          <a:blip r:embed="rId4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6" name="组合 12"/>
          <p:cNvGrpSpPr/>
          <p:nvPr/>
        </p:nvGrpSpPr>
        <p:grpSpPr>
          <a:xfrm>
            <a:off x="1062038" y="2667000"/>
            <a:ext cx="10074275" cy="1481138"/>
            <a:chOff x="1673" y="4199"/>
            <a:chExt cx="15864" cy="2333"/>
          </a:xfrm>
        </p:grpSpPr>
        <p:sp>
          <p:nvSpPr>
            <p:cNvPr id="7" name="文本框 6"/>
            <p:cNvSpPr txBox="1"/>
            <p:nvPr userDrawn="1"/>
          </p:nvSpPr>
          <p:spPr>
            <a:xfrm>
              <a:off x="3930" y="5808"/>
              <a:ext cx="115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indent="0" algn="l" defTabSz="914400" rtl="0" eaLnBrk="1" fontAlgn="base" latinLnBrk="0" hangingPunct="0">
                <a:lnSpc>
                  <a:spcPct val="93000"/>
                </a:lnSpc>
                <a:spcBef>
                  <a:spcPts val="15"/>
                </a:spcBef>
                <a:spcAft>
                  <a:spcPts val="15"/>
                </a:spcAft>
                <a:buClr>
                  <a:srgbClr val="000000"/>
                </a:buClr>
                <a:buSzTx/>
                <a:buFont typeface="Times New Roman" panose="02020603050405020304" pitchFamily="16" charset="0"/>
                <a:buNone/>
              </a:pPr>
              <a:r>
                <a:rPr kumimoji="0" lang="zh-CN" altLang="en-US" sz="2400" b="1" i="0" u="none" strike="noStrike" kern="1200" cap="none" spc="1200" normalizeH="0" baseline="0" noProof="1">
                  <a:solidFill>
                    <a:srgbClr val="4D4C4D"/>
                  </a:solidFill>
                  <a:uFillTx/>
                  <a:latin typeface="Alibaba Sans Heavy" charset="-122"/>
                  <a:ea typeface="微软雅黑" panose="020B0503020204020204" charset="-122"/>
                  <a:cs typeface="Alibaba Sans Heavy" charset="-122"/>
                </a:rPr>
                <a:t>让资源为社会可持续发展绽放价值</a:t>
              </a:r>
              <a:endParaRPr kumimoji="0" lang="zh-CN" altLang="en-US" sz="2400" b="1" i="0" u="none" strike="noStrike" kern="1200" cap="none" spc="1200" normalizeH="0" baseline="0" noProof="1">
                <a:solidFill>
                  <a:srgbClr val="4D4C4D"/>
                </a:solidFill>
                <a:uFillTx/>
                <a:latin typeface="Alibaba Sans Heavy" charset="-122"/>
                <a:ea typeface="微软雅黑" panose="020B0503020204020204" charset="-122"/>
                <a:cs typeface="Alibaba Sans Heavy" charset="-122"/>
              </a:endParaRPr>
            </a:p>
          </p:txBody>
        </p:sp>
        <p:grpSp>
          <p:nvGrpSpPr>
            <p:cNvPr id="3078" name="组合 8"/>
            <p:cNvGrpSpPr/>
            <p:nvPr/>
          </p:nvGrpSpPr>
          <p:grpSpPr>
            <a:xfrm>
              <a:off x="1673" y="4199"/>
              <a:ext cx="15864" cy="1523"/>
              <a:chOff x="2098" y="3370"/>
              <a:chExt cx="15006" cy="1523"/>
            </a:xfrm>
          </p:grpSpPr>
          <p:pic>
            <p:nvPicPr>
              <p:cNvPr id="3079" name="图片 9" descr="logo源文件-06"/>
              <p:cNvPicPr>
                <a:picLocks noChangeAspect="1"/>
              </p:cNvPicPr>
              <p:nvPr userDrawn="1">
                <p:custDataLst>
                  <p:tags r:id="rId3"/>
                </p:custDataLst>
              </p:nvPr>
            </p:nvPicPr>
            <p:blipFill>
              <a:blip r:embed="rId4"/>
              <a:srcRect t="33002" b="33688"/>
              <a:stretch>
                <a:fillRect/>
              </a:stretch>
            </p:blipFill>
            <p:spPr>
              <a:xfrm>
                <a:off x="5780" y="3370"/>
                <a:ext cx="7641" cy="140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11" name="直接连接符 10"/>
              <p:cNvCxnSpPr/>
              <p:nvPr/>
            </p:nvCxnSpPr>
            <p:spPr>
              <a:xfrm>
                <a:off x="2098" y="4862"/>
                <a:ext cx="15006" cy="31"/>
              </a:xfrm>
              <a:prstGeom prst="line">
                <a:avLst/>
              </a:prstGeom>
              <a:ln w="9525">
                <a:solidFill>
                  <a:srgbClr val="BC22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6" descr="logo源文件-06"/>
          <p:cNvPicPr>
            <a:picLocks noChangeAspect="1"/>
          </p:cNvPicPr>
          <p:nvPr/>
        </p:nvPicPr>
        <p:blipFill>
          <a:blip r:embed="rId2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0" name="文本框 5"/>
          <p:cNvSpPr txBox="1"/>
          <p:nvPr/>
        </p:nvSpPr>
        <p:spPr>
          <a:xfrm>
            <a:off x="1455738" y="919163"/>
            <a:ext cx="12573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hangingPunct="0"/>
            <a:r>
              <a:rPr lang="zh-CN" altLang="en-US" sz="2800" b="1">
                <a:solidFill>
                  <a:srgbClr val="E01E35"/>
                </a:solidFill>
                <a:latin typeface="Microsoft YaHei Bold" charset="-122"/>
                <a:ea typeface="Microsoft YaHei Bold" charset="-122"/>
              </a:rPr>
              <a:t>目  录</a:t>
            </a:r>
            <a:endParaRPr lang="zh-CN" altLang="en-US" sz="2800" b="1">
              <a:solidFill>
                <a:srgbClr val="E01E35"/>
              </a:solidFill>
              <a:latin typeface="Microsoft YaHei Bold" charset="-122"/>
              <a:ea typeface="Microsoft YaHei Bold" charset="-122"/>
            </a:endParaRPr>
          </a:p>
        </p:txBody>
      </p:sp>
      <p:sp>
        <p:nvSpPr>
          <p:cNvPr id="4101" name="文本框 7"/>
          <p:cNvSpPr txBox="1"/>
          <p:nvPr/>
        </p:nvSpPr>
        <p:spPr>
          <a:xfrm>
            <a:off x="3178175" y="1073150"/>
            <a:ext cx="1141413" cy="3063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hangingPunct="0"/>
            <a:r>
              <a:rPr lang="en-US" altLang="zh-CN" sz="1400">
                <a:solidFill>
                  <a:srgbClr val="40404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CONTENTS</a:t>
            </a:r>
            <a:endParaRPr lang="en-US" altLang="zh-CN" sz="1400">
              <a:solidFill>
                <a:srgbClr val="40404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4102" name="图片 27" descr="元素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13" y="1379538"/>
            <a:ext cx="3676650" cy="14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9" descr="辅助图形_画板 1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58775"/>
            <a:ext cx="639763" cy="36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5875" y="954088"/>
            <a:ext cx="12196763" cy="53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trike="noStrike" noProof="1"/>
          </a:p>
        </p:txBody>
      </p:sp>
      <p:cxnSp>
        <p:nvCxnSpPr>
          <p:cNvPr id="6" name="直接连接符 5"/>
          <p:cNvCxnSpPr/>
          <p:nvPr/>
        </p:nvCxnSpPr>
        <p:spPr>
          <a:xfrm>
            <a:off x="0" y="885825"/>
            <a:ext cx="1221263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6" descr="/Users/chenjiayi/Downloads/设计支持/2022年度/吉利百矿ppt/111封面_画板 1.jpg111封面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9" descr="辅助图形_画板 1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2482850"/>
            <a:ext cx="2557463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图片 15" descr="logo源文件-06"/>
          <p:cNvPicPr>
            <a:picLocks noChangeAspect="1"/>
          </p:cNvPicPr>
          <p:nvPr/>
        </p:nvPicPr>
        <p:blipFill>
          <a:blip r:embed="rId4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6" name="组合 12"/>
          <p:cNvGrpSpPr/>
          <p:nvPr/>
        </p:nvGrpSpPr>
        <p:grpSpPr>
          <a:xfrm>
            <a:off x="1062038" y="2667000"/>
            <a:ext cx="10074275" cy="1481138"/>
            <a:chOff x="1673" y="4199"/>
            <a:chExt cx="15864" cy="2333"/>
          </a:xfrm>
        </p:grpSpPr>
        <p:sp>
          <p:nvSpPr>
            <p:cNvPr id="7" name="文本框 6"/>
            <p:cNvSpPr txBox="1"/>
            <p:nvPr userDrawn="1"/>
          </p:nvSpPr>
          <p:spPr>
            <a:xfrm>
              <a:off x="3930" y="5808"/>
              <a:ext cx="115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indent="0" algn="l" defTabSz="914400" rtl="0" eaLnBrk="1" fontAlgn="base" latinLnBrk="0" hangingPunct="0">
                <a:lnSpc>
                  <a:spcPct val="93000"/>
                </a:lnSpc>
                <a:spcBef>
                  <a:spcPts val="15"/>
                </a:spcBef>
                <a:spcAft>
                  <a:spcPts val="15"/>
                </a:spcAft>
                <a:buClr>
                  <a:srgbClr val="000000"/>
                </a:buClr>
                <a:buSzTx/>
                <a:buFont typeface="Times New Roman" panose="02020603050405020304" pitchFamily="16" charset="0"/>
                <a:buNone/>
              </a:pPr>
              <a:r>
                <a:rPr kumimoji="0" lang="zh-CN" altLang="en-US" sz="2400" b="1" i="0" u="none" strike="noStrike" kern="1200" cap="none" spc="1200" normalizeH="0" baseline="0" noProof="1">
                  <a:solidFill>
                    <a:srgbClr val="4D4C4D"/>
                  </a:solidFill>
                  <a:uFillTx/>
                  <a:latin typeface="Alibaba Sans Heavy" charset="-122"/>
                  <a:ea typeface="微软雅黑" panose="020B0503020204020204" charset="-122"/>
                  <a:cs typeface="Alibaba Sans Heavy" charset="-122"/>
                </a:rPr>
                <a:t>让资源为社会可持续发展绽放价值</a:t>
              </a:r>
              <a:endParaRPr kumimoji="0" lang="zh-CN" altLang="en-US" sz="2400" b="1" i="0" u="none" strike="noStrike" kern="1200" cap="none" spc="1200" normalizeH="0" baseline="0" noProof="1">
                <a:solidFill>
                  <a:srgbClr val="4D4C4D"/>
                </a:solidFill>
                <a:uFillTx/>
                <a:latin typeface="Alibaba Sans Heavy" charset="-122"/>
                <a:ea typeface="微软雅黑" panose="020B0503020204020204" charset="-122"/>
                <a:cs typeface="Alibaba Sans Heavy" charset="-122"/>
              </a:endParaRPr>
            </a:p>
          </p:txBody>
        </p:sp>
        <p:grpSp>
          <p:nvGrpSpPr>
            <p:cNvPr id="3078" name="组合 8"/>
            <p:cNvGrpSpPr/>
            <p:nvPr/>
          </p:nvGrpSpPr>
          <p:grpSpPr>
            <a:xfrm>
              <a:off x="1673" y="4199"/>
              <a:ext cx="15864" cy="1523"/>
              <a:chOff x="2098" y="3370"/>
              <a:chExt cx="15006" cy="1523"/>
            </a:xfrm>
          </p:grpSpPr>
          <p:pic>
            <p:nvPicPr>
              <p:cNvPr id="3079" name="图片 9" descr="logo源文件-06"/>
              <p:cNvPicPr>
                <a:picLocks noChangeAspect="1"/>
              </p:cNvPicPr>
              <p:nvPr userDrawn="1">
                <p:custDataLst>
                  <p:tags r:id="rId3"/>
                </p:custDataLst>
              </p:nvPr>
            </p:nvPicPr>
            <p:blipFill>
              <a:blip r:embed="rId4"/>
              <a:srcRect t="33002" b="33688"/>
              <a:stretch>
                <a:fillRect/>
              </a:stretch>
            </p:blipFill>
            <p:spPr>
              <a:xfrm>
                <a:off x="5780" y="3370"/>
                <a:ext cx="7641" cy="140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11" name="直接连接符 10"/>
              <p:cNvCxnSpPr/>
              <p:nvPr/>
            </p:nvCxnSpPr>
            <p:spPr>
              <a:xfrm>
                <a:off x="2098" y="4862"/>
                <a:ext cx="15006" cy="31"/>
              </a:xfrm>
              <a:prstGeom prst="line">
                <a:avLst/>
              </a:prstGeom>
              <a:ln w="9525">
                <a:solidFill>
                  <a:srgbClr val="BC223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6" descr="logo源文件-06"/>
          <p:cNvPicPr>
            <a:picLocks noChangeAspect="1"/>
          </p:cNvPicPr>
          <p:nvPr/>
        </p:nvPicPr>
        <p:blipFill>
          <a:blip r:embed="rId2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0" name="文本框 5"/>
          <p:cNvSpPr txBox="1"/>
          <p:nvPr/>
        </p:nvSpPr>
        <p:spPr>
          <a:xfrm>
            <a:off x="1455738" y="919163"/>
            <a:ext cx="12573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hangingPunct="0"/>
            <a:r>
              <a:rPr lang="zh-CN" altLang="en-US" sz="2800" b="1">
                <a:solidFill>
                  <a:srgbClr val="E01E35"/>
                </a:solidFill>
                <a:latin typeface="Microsoft YaHei Bold" charset="-122"/>
                <a:ea typeface="Microsoft YaHei Bold" charset="-122"/>
              </a:rPr>
              <a:t>目  录</a:t>
            </a:r>
            <a:endParaRPr lang="zh-CN" altLang="en-US" sz="2800" b="1">
              <a:solidFill>
                <a:srgbClr val="E01E35"/>
              </a:solidFill>
              <a:latin typeface="Microsoft YaHei Bold" charset="-122"/>
              <a:ea typeface="Microsoft YaHei Bold" charset="-122"/>
            </a:endParaRPr>
          </a:p>
        </p:txBody>
      </p:sp>
      <p:sp>
        <p:nvSpPr>
          <p:cNvPr id="4101" name="文本框 7"/>
          <p:cNvSpPr txBox="1"/>
          <p:nvPr/>
        </p:nvSpPr>
        <p:spPr>
          <a:xfrm>
            <a:off x="3178175" y="1073150"/>
            <a:ext cx="1141413" cy="3063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lvl="0" hangingPunct="0"/>
            <a:r>
              <a:rPr lang="en-US" altLang="zh-CN" sz="1400">
                <a:solidFill>
                  <a:srgbClr val="404040"/>
                </a:solidFill>
                <a:latin typeface="微软雅黑 Light" panose="020B0502040204020203" charset="-122"/>
                <a:ea typeface="微软雅黑 Light" panose="020B0502040204020203" charset="-122"/>
              </a:rPr>
              <a:t>CONTENTS</a:t>
            </a:r>
            <a:endParaRPr lang="en-US" altLang="zh-CN" sz="1400">
              <a:solidFill>
                <a:srgbClr val="404040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4102" name="图片 27" descr="元素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413" y="1379538"/>
            <a:ext cx="3676650" cy="149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9" descr="辅助图形_画板 1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58775"/>
            <a:ext cx="639763" cy="36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5875" y="954088"/>
            <a:ext cx="12196763" cy="539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1800" strike="noStrike" noProof="1"/>
          </a:p>
        </p:txBody>
      </p:sp>
      <p:cxnSp>
        <p:nvCxnSpPr>
          <p:cNvPr id="6" name="直接连接符 5"/>
          <p:cNvCxnSpPr/>
          <p:nvPr/>
        </p:nvCxnSpPr>
        <p:spPr>
          <a:xfrm>
            <a:off x="0" y="885825"/>
            <a:ext cx="1221263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29" name="图片" descr="logo源文件-06"/>
          <p:cNvPicPr>
            <a:picLocks noChangeAspect="1"/>
          </p:cNvPicPr>
          <p:nvPr/>
        </p:nvPicPr>
        <p:blipFill>
          <a:blip r:embed="rId5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1270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D04A9019-7A10-4D74-B17E-48E86AE59086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3C896D3-5AC1-43E4-B7C6-91FC0AAC3A9E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29" name="图片" descr="logo源文件-06"/>
          <p:cNvPicPr>
            <a:picLocks noChangeAspect="1"/>
          </p:cNvPicPr>
          <p:nvPr/>
        </p:nvPicPr>
        <p:blipFill>
          <a:blip r:embed="rId5"/>
          <a:srcRect l="15439" t="31339" r="16199" b="28639"/>
          <a:stretch>
            <a:fillRect/>
          </a:stretch>
        </p:blipFill>
        <p:spPr>
          <a:xfrm>
            <a:off x="9969500" y="228600"/>
            <a:ext cx="2057400" cy="665163"/>
          </a:xfrm>
          <a:prstGeom prst="rect">
            <a:avLst/>
          </a:prstGeom>
          <a:noFill/>
          <a:ln w="1270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7170" name="文本框 7168"/>
          <p:cNvSpPr txBox="1"/>
          <p:nvPr/>
        </p:nvSpPr>
        <p:spPr>
          <a:xfrm>
            <a:off x="3223895" y="2642870"/>
            <a:ext cx="7706995" cy="86614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algn="ctr"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</a:tabLst>
            </a:pPr>
            <a:r>
              <a:rPr lang="zh-CN" altLang="en-US" sz="3600" b="1" dirty="0" err="1">
                <a:latin typeface="微软雅黑" panose="020B0503020204020204" charset="-122"/>
                <a:ea typeface="微软雅黑" panose="020B0503020204020204" charset="-122"/>
              </a:rPr>
              <a:t>研究院项目绩效及成本管理</a:t>
            </a:r>
            <a:endParaRPr lang="zh-CN" altLang="en-US" sz="3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556250" y="4374515"/>
            <a:ext cx="3239135" cy="559435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pPr fontAlgn="base"/>
            <a:fld id="{D04A9019-7A10-4D74-B17E-48E86AE59086}" type="datetime2">
              <a:rPr lang="zh-CN" altLang="en-US" sz="2800" b="1" strike="noStrike" noProof="1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z="2800" b="1" strike="noStrike" noProof="1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9218" name="任意多边形 8192"/>
          <p:cNvSpPr/>
          <p:nvPr>
            <p:custDataLst>
              <p:tags r:id="rId1"/>
            </p:custDataLst>
          </p:nvPr>
        </p:nvSpPr>
        <p:spPr>
          <a:xfrm>
            <a:off x="3842731" y="2260225"/>
            <a:ext cx="703263" cy="703262"/>
          </a:xfrm>
          <a:custGeom>
            <a:avLst/>
            <a:gdLst/>
            <a:ahLst/>
            <a:cxnLst/>
            <a:pathLst>
              <a:path w="702665" h="70266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noFill/>
          </a:ln>
        </p:spPr>
        <p:txBody>
          <a:bodyPr wrap="square" lIns="25560" tIns="25560" rIns="25560" bIns="25560" anchor="ctr" anchorCtr="0"/>
          <a:p>
            <a:pPr defTabSz="914400" hangingPunct="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3200" b="1" dirty="0" err="1">
                <a:solidFill>
                  <a:srgbClr val="002060"/>
                </a:solidFill>
                <a:latin typeface="Arial" panose="020B0604020202020204" pitchFamily="34" charset="0"/>
              </a:rPr>
              <a:t>01</a:t>
            </a:r>
            <a:endParaRPr lang="en-US" altLang="zh-CN" sz="3200" b="1" dirty="0" err="1">
              <a:solidFill>
                <a:srgbClr val="00206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219" name="矩形 8193"/>
          <p:cNvSpPr/>
          <p:nvPr>
            <p:custDataLst>
              <p:tags r:id="rId2"/>
            </p:custDataLst>
          </p:nvPr>
        </p:nvSpPr>
        <p:spPr>
          <a:xfrm>
            <a:off x="4461856" y="2389447"/>
            <a:ext cx="1960245" cy="4616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6800" rIns="90000" bIns="46800" anchor="ctr" anchorCtr="0">
            <a:spAutoFit/>
          </a:bodyPr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</a:pPr>
            <a:r>
              <a:rPr lang="zh-CN" altLang="x-none" sz="2400" b="1" dirty="0" err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x-none" sz="2400" b="1" dirty="0" err="1">
                <a:solidFill>
                  <a:srgbClr val="002060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标准流程</a:t>
            </a:r>
            <a:endParaRPr lang="zh-CN" altLang="x-none">
              <a:latin typeface="微软雅黑" charset="0"/>
              <a:ea typeface="微软雅黑" charset="0"/>
              <a:cs typeface="Arial" panose="020B0604020202020204" pitchFamily="34" charset="0"/>
            </a:endParaRPr>
          </a:p>
        </p:txBody>
      </p:sp>
      <p:sp>
        <p:nvSpPr>
          <p:cNvPr id="9220" name="任意多边形 8194"/>
          <p:cNvSpPr/>
          <p:nvPr>
            <p:custDataLst>
              <p:tags r:id="rId3"/>
            </p:custDataLst>
          </p:nvPr>
        </p:nvSpPr>
        <p:spPr>
          <a:xfrm>
            <a:off x="3841144" y="3170180"/>
            <a:ext cx="703262" cy="703262"/>
          </a:xfrm>
          <a:custGeom>
            <a:avLst/>
            <a:gdLst/>
            <a:ahLst/>
            <a:cxnLst/>
            <a:pathLst>
              <a:path w="702665" h="70266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noFill/>
          </a:ln>
        </p:spPr>
        <p:txBody>
          <a:bodyPr wrap="square" lIns="25560" tIns="25560" rIns="25560" bIns="25560" anchor="ctr" anchorCtr="0"/>
          <a:p>
            <a:pPr hangingPunct="0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2060"/>
                </a:solidFill>
                <a:latin typeface="Arial" panose="020B0604020202020204" pitchFamily="34" charset="0"/>
              </a:rPr>
              <a:t>02</a:t>
            </a:r>
            <a:endParaRPr lang="en-US" altLang="zh-CN" sz="3200" b="1" dirty="0" err="1">
              <a:solidFill>
                <a:srgbClr val="00206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221" name="矩形 8195"/>
          <p:cNvSpPr/>
          <p:nvPr>
            <p:custDataLst>
              <p:tags r:id="rId4"/>
            </p:custDataLst>
          </p:nvPr>
        </p:nvSpPr>
        <p:spPr>
          <a:xfrm>
            <a:off x="4461856" y="3291147"/>
            <a:ext cx="2023110" cy="46164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6800" rIns="90000" bIns="46800" anchor="ctr" anchorCtr="0">
            <a:spAutoFit/>
          </a:bodyPr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</a:tabLst>
            </a:pPr>
            <a:r>
              <a:rPr lang="zh-CN" altLang="x-none" sz="2400" b="1" dirty="0" err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x-none" sz="2400" b="1" dirty="0" err="1">
                <a:solidFill>
                  <a:srgbClr val="002060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成本管理</a:t>
            </a:r>
            <a:endParaRPr lang="zh-CN" altLang="x-none">
              <a:latin typeface="微软雅黑" charset="0"/>
              <a:ea typeface="微软雅黑" charset="0"/>
              <a:cs typeface="Arial" panose="020B0604020202020204" pitchFamily="34" charset="0"/>
            </a:endParaRPr>
          </a:p>
        </p:txBody>
      </p:sp>
      <p:sp>
        <p:nvSpPr>
          <p:cNvPr id="9222" name="任意多边形 8196"/>
          <p:cNvSpPr/>
          <p:nvPr>
            <p:custDataLst>
              <p:tags r:id="rId5"/>
            </p:custDataLst>
          </p:nvPr>
        </p:nvSpPr>
        <p:spPr>
          <a:xfrm>
            <a:off x="3833841" y="4099502"/>
            <a:ext cx="703263" cy="701675"/>
          </a:xfrm>
          <a:custGeom>
            <a:avLst/>
            <a:gdLst/>
            <a:ahLst/>
            <a:cxnLst/>
            <a:pathLst>
              <a:path w="702665" h="70266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2600">
            <a:noFill/>
          </a:ln>
        </p:spPr>
        <p:txBody>
          <a:bodyPr wrap="square" lIns="25560" tIns="25560" rIns="25560" bIns="25560" anchor="ctr" anchorCtr="0"/>
          <a:p>
            <a:pPr hangingPunct="0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2060"/>
                </a:solidFill>
                <a:latin typeface="Arial" panose="020B0604020202020204" pitchFamily="34" charset="0"/>
              </a:rPr>
              <a:t>03</a:t>
            </a:r>
            <a:endParaRPr lang="en-US" altLang="zh-CN" sz="3200" b="1" dirty="0" err="1">
              <a:solidFill>
                <a:srgbClr val="00206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223" name="矩形 8197"/>
          <p:cNvSpPr/>
          <p:nvPr>
            <p:custDataLst>
              <p:tags r:id="rId6"/>
            </p:custDataLst>
          </p:nvPr>
        </p:nvSpPr>
        <p:spPr>
          <a:xfrm>
            <a:off x="4470111" y="4030604"/>
            <a:ext cx="3013175" cy="83121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6800" rIns="90000" bIns="46800" anchor="ctr" anchorCtr="0">
            <a:noAutofit/>
          </a:bodyPr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</a:pPr>
            <a:r>
              <a:rPr lang="zh-CN" altLang="x-none" sz="2400" b="1" dirty="0" err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x-none" sz="2400" b="1" dirty="0" err="1">
                <a:solidFill>
                  <a:srgbClr val="002060"/>
                </a:solidFill>
                <a:latin typeface="微软雅黑" charset="0"/>
                <a:ea typeface="微软雅黑" charset="0"/>
              </a:rPr>
              <a:t>管理</a:t>
            </a:r>
            <a:r>
              <a:rPr lang="zh-CN" altLang="en-US" sz="2400" b="1" dirty="0" err="1">
                <a:solidFill>
                  <a:srgbClr val="002060"/>
                </a:solidFill>
                <a:latin typeface="微软雅黑" charset="0"/>
                <a:ea typeface="微软雅黑" charset="0"/>
              </a:rPr>
              <a:t>绩效考核</a:t>
            </a:r>
            <a:endParaRPr lang="zh-CN" altLang="x-none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6" name="矩形 8200"/>
          <p:cNvSpPr/>
          <p:nvPr/>
        </p:nvSpPr>
        <p:spPr>
          <a:xfrm>
            <a:off x="660400" y="254000"/>
            <a:ext cx="3327400" cy="1065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hangingPunct="0"/>
            <a:endParaRPr lang="zh-CN" altLang="en-US">
              <a:latin typeface="Arial" panose="020B0604020202020204" pitchFamily="34" charset="0"/>
              <a:ea typeface="等线" panose="02010600030101010101" charset="-122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0240"/>
          <p:cNvSpPr txBox="1"/>
          <p:nvPr/>
        </p:nvSpPr>
        <p:spPr>
          <a:xfrm>
            <a:off x="1270000" y="189230"/>
            <a:ext cx="3871595" cy="635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800" b="1" dirty="0" err="1">
                <a:latin typeface="微软雅黑" panose="020B0503020204020204" charset="-122"/>
                <a:ea typeface="微软雅黑" panose="020B0503020204020204" charset="-122"/>
              </a:rPr>
              <a:t>项目标准流程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9810" y="154241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项目方案及概算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61000" y="154241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96430" y="154241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317500" y="1094105"/>
          <a:ext cx="1160653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345"/>
                <a:gridCol w="1595120"/>
                <a:gridCol w="2085975"/>
                <a:gridCol w="1609725"/>
                <a:gridCol w="1041400"/>
                <a:gridCol w="1728470"/>
                <a:gridCol w="2182495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项目阶段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前置条件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业务流程名称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标准周期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产出物</a:t>
                      </a:r>
                      <a:r>
                        <a:rPr lang="en-US" alt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过程文档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要求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3559810" y="193548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方案评审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461000" y="193548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996430" y="193548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346575" y="1767205"/>
            <a:ext cx="0" cy="16827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559810" y="230949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项目立项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461000" y="230949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96430" y="230949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4346575" y="2160270"/>
            <a:ext cx="0" cy="14922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558540" y="269557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EPC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合同签订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459730" y="269557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商务</a:t>
            </a:r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995160" y="269557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4345305" y="2534285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556635" y="308165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图纸设计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57825" y="308165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993255" y="308165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4343400" y="2920365"/>
            <a:ext cx="1905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558540" y="344932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图纸</a:t>
            </a:r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预赛审查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459730" y="344932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995160" y="344932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4343400" y="3306445"/>
            <a:ext cx="1905" cy="14287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558540" y="382333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招标需求审批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59730" y="382333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95160" y="382333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4345305" y="3674110"/>
            <a:ext cx="0" cy="14922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557270" y="420941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招标启动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458460" y="420941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993890" y="420941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H="1">
            <a:off x="4344035" y="4048125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3555365" y="459549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技术任务书审查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456555" y="459549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991985" y="459549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H="1">
            <a:off x="4342130" y="4434205"/>
            <a:ext cx="1905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555365" y="496443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招标公告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456555" y="496443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6991985" y="496443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4342130" y="4820285"/>
            <a:ext cx="0" cy="14414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3557270" y="533209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招标资格审查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458460" y="5332095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93890" y="533209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4342130" y="5189220"/>
            <a:ext cx="1905" cy="14287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3557270" y="570611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开标评标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458460" y="570611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993890" y="570611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>
            <a:off x="4344035" y="5556885"/>
            <a:ext cx="0" cy="14922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556000" y="609219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中标通知书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457190" y="609219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商务负责人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992620" y="609219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8" name="直接箭头连接符 77"/>
          <p:cNvCxnSpPr/>
          <p:nvPr/>
        </p:nvCxnSpPr>
        <p:spPr>
          <a:xfrm flipH="1">
            <a:off x="4342765" y="5930900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3554095" y="647827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采购合同签订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5455285" y="6478270"/>
            <a:ext cx="1435100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商务</a:t>
            </a:r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6990715" y="647827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3" name="直接箭头连接符 82"/>
          <p:cNvCxnSpPr/>
          <p:nvPr/>
        </p:nvCxnSpPr>
        <p:spPr>
          <a:xfrm flipH="1">
            <a:off x="4340860" y="6316980"/>
            <a:ext cx="1905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335280" y="1538605"/>
            <a:ext cx="1305560" cy="1381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1.</a:t>
            </a:r>
            <a:r>
              <a:rPr lang="zh-CN" altLang="en-US"/>
              <a:t>项目前置</a:t>
            </a:r>
            <a:endParaRPr lang="zh-CN" altLang="en-US"/>
          </a:p>
        </p:txBody>
      </p:sp>
      <p:sp>
        <p:nvSpPr>
          <p:cNvPr id="85" name="矩形 84" descr="7b0a202020202262756c6c6574223a20227b5c2263617465676f727949645c223a5c225c222c5c2274656d706c61746549645c223a32303233313731337d220a7d0a"/>
          <p:cNvSpPr/>
          <p:nvPr/>
        </p:nvSpPr>
        <p:spPr>
          <a:xfrm>
            <a:off x="1685925" y="1538605"/>
            <a:ext cx="1511935" cy="1381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zh-CN" altLang="en-US" sz="1200">
                <a:sym typeface="+mn-ea"/>
              </a:rPr>
              <a:t>业</a:t>
            </a:r>
            <a:r>
              <a:rPr lang="zh-CN" altLang="en-US" sz="1200">
                <a:sym typeface="+mn-ea"/>
              </a:rPr>
              <a:t>务</a:t>
            </a:r>
            <a:r>
              <a:rPr lang="en-US" altLang="zh-CN" sz="1200">
                <a:sym typeface="+mn-ea"/>
              </a:rPr>
              <a:t>年度计划；</a:t>
            </a:r>
            <a:endParaRPr lang="en-US" altLang="zh-CN" sz="1200">
              <a:sym typeface="+mn-ea"/>
            </a:endParaRPr>
          </a:p>
          <a:p>
            <a:pPr lvl="0" algn="l">
              <a:buClrTx/>
              <a:buSz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zh-CN" sz="1200">
                <a:sym typeface="+mn-ea"/>
              </a:rPr>
              <a:t>业务调研需求；</a:t>
            </a:r>
            <a:endParaRPr lang="en-US" altLang="zh-CN" sz="1200">
              <a:sym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35280" y="3081655"/>
            <a:ext cx="1305560" cy="3621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2.</a:t>
            </a:r>
            <a:r>
              <a:rPr lang="zh-CN" altLang="en-US"/>
              <a:t>项目推进</a:t>
            </a:r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1685925" y="3081655"/>
            <a:ext cx="1511935" cy="3621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400">
                <a:sym typeface="+mn-ea"/>
              </a:rPr>
              <a:t>1.EPC</a:t>
            </a:r>
            <a:r>
              <a:rPr lang="en-US" altLang="zh-CN" sz="1400">
                <a:sym typeface="+mn-ea"/>
              </a:rPr>
              <a:t>合同签订</a:t>
            </a:r>
            <a:endParaRPr lang="en-US" altLang="zh-CN" sz="14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400">
                <a:sym typeface="+mn-ea"/>
              </a:rPr>
              <a:t>2.</a:t>
            </a:r>
            <a:r>
              <a:rPr lang="en-US" altLang="zh-CN" sz="1400">
                <a:sym typeface="+mn-ea"/>
              </a:rPr>
              <a:t>项目定价</a:t>
            </a:r>
            <a:endParaRPr lang="en-US" altLang="zh-CN" sz="1400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041005" y="1551305"/>
            <a:ext cx="1659890" cy="1381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1.</a:t>
            </a:r>
            <a:r>
              <a:rPr lang="en-US" altLang="zh-CN" sz="1100">
                <a:sym typeface="+mn-ea"/>
              </a:rPr>
              <a:t>项目初步方案；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2.</a:t>
            </a:r>
            <a:r>
              <a:rPr lang="en-US" altLang="zh-CN" sz="1100">
                <a:sym typeface="+mn-ea"/>
              </a:rPr>
              <a:t>项目方案评审报告；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3.</a:t>
            </a:r>
            <a:r>
              <a:rPr lang="en-US" altLang="zh-CN" sz="1100">
                <a:sym typeface="+mn-ea"/>
              </a:rPr>
              <a:t>立项报告；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4.</a:t>
            </a:r>
            <a:r>
              <a:rPr lang="en-US" altLang="zh-CN" sz="1100">
                <a:sym typeface="+mn-ea"/>
              </a:rPr>
              <a:t>项目定价</a:t>
            </a:r>
            <a:r>
              <a:rPr lang="en-US" altLang="zh-CN" sz="1100">
                <a:sym typeface="+mn-ea"/>
              </a:rPr>
              <a:t>会议纪要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5.EPC</a:t>
            </a:r>
            <a:r>
              <a:rPr lang="en-US" altLang="zh-CN" sz="1100">
                <a:sym typeface="+mn-ea"/>
              </a:rPr>
              <a:t>合同</a:t>
            </a:r>
            <a:endParaRPr lang="en-US" altLang="zh-CN" sz="1100"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9752965" y="1542415"/>
            <a:ext cx="2160270" cy="1381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1.简述项目背景</a:t>
            </a:r>
            <a:r>
              <a:rPr lang="zh-CN" altLang="en-US" sz="1100">
                <a:sym typeface="+mn-ea"/>
              </a:rPr>
              <a:t>，进行必要性、可行性、经济性分析；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2.</a:t>
            </a:r>
            <a:r>
              <a:rPr lang="en-US" altLang="zh-CN" sz="1100">
                <a:sym typeface="+mn-ea"/>
              </a:rPr>
              <a:t>明确项目目标，进度计划进度、质量和交付物；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3.</a:t>
            </a:r>
            <a:r>
              <a:rPr lang="en-US" altLang="zh-CN" sz="1100">
                <a:sym typeface="+mn-ea"/>
              </a:rPr>
              <a:t>《项目初步方案》、《评审报告》《立项报告》、《EPC</a:t>
            </a:r>
            <a:r>
              <a:rPr lang="en-US" altLang="zh-CN" sz="1100">
                <a:sym typeface="+mn-ea"/>
              </a:rPr>
              <a:t>合同》为必要产出物，</a:t>
            </a:r>
            <a:endParaRPr lang="en-US" altLang="zh-CN" sz="1100"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040370" y="3081655"/>
            <a:ext cx="1661160" cy="3621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1.</a:t>
            </a:r>
            <a:r>
              <a:rPr lang="en-US" altLang="zh-CN" sz="1100">
                <a:sym typeface="+mn-ea"/>
              </a:rPr>
              <a:t>项目设计图；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2.</a:t>
            </a:r>
            <a:r>
              <a:rPr lang="en-US" altLang="zh-CN" sz="1100">
                <a:sym typeface="+mn-ea"/>
              </a:rPr>
              <a:t>设计图/</a:t>
            </a:r>
            <a:r>
              <a:rPr lang="en-US" altLang="zh-CN" sz="1100">
                <a:sym typeface="+mn-ea"/>
              </a:rPr>
              <a:t>预算审查审批流程；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3.</a:t>
            </a:r>
            <a:r>
              <a:rPr lang="en-US" altLang="zh-CN" sz="1100">
                <a:sym typeface="+mn-ea"/>
              </a:rPr>
              <a:t>招标需求审批流程单；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4.</a:t>
            </a:r>
            <a:r>
              <a:rPr lang="en-US" altLang="zh-CN" sz="1100">
                <a:sym typeface="+mn-ea"/>
              </a:rPr>
              <a:t>招标公告；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5.</a:t>
            </a:r>
            <a:r>
              <a:rPr lang="en-US" altLang="zh-CN" sz="1100">
                <a:sym typeface="+mn-ea"/>
              </a:rPr>
              <a:t>招标文件；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6.</a:t>
            </a:r>
            <a:r>
              <a:rPr lang="en-US" altLang="zh-CN" sz="1100">
                <a:sym typeface="+mn-ea"/>
              </a:rPr>
              <a:t>技术任务书；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7.</a:t>
            </a:r>
            <a:r>
              <a:rPr lang="en-US" altLang="zh-CN" sz="1100">
                <a:sym typeface="+mn-ea"/>
              </a:rPr>
              <a:t>招标资格审查报告；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8.</a:t>
            </a:r>
            <a:r>
              <a:rPr lang="en-US" altLang="zh-CN" sz="1100">
                <a:sym typeface="+mn-ea"/>
              </a:rPr>
              <a:t>评标报告；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9.</a:t>
            </a:r>
            <a:r>
              <a:rPr lang="en-US" altLang="zh-CN" sz="1100">
                <a:sym typeface="+mn-ea"/>
              </a:rPr>
              <a:t>中标通知书；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10.</a:t>
            </a:r>
            <a:r>
              <a:rPr lang="en-US" altLang="zh-CN" sz="1100">
                <a:sym typeface="+mn-ea"/>
              </a:rPr>
              <a:t>采购合同；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11.</a:t>
            </a:r>
            <a:r>
              <a:rPr lang="en-US" altLang="zh-CN" sz="1100">
                <a:sym typeface="+mn-ea"/>
              </a:rPr>
              <a:t>施工合同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12.</a:t>
            </a:r>
            <a:r>
              <a:rPr lang="en-US" altLang="zh-CN" sz="1100">
                <a:sym typeface="+mn-ea"/>
              </a:rPr>
              <a:t>系统软件编码备份</a:t>
            </a:r>
            <a:endParaRPr lang="en-US" altLang="zh-CN" sz="1100"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752965" y="3068955"/>
            <a:ext cx="2159635" cy="3621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1.</a:t>
            </a:r>
            <a:r>
              <a:rPr lang="en-US" altLang="zh-CN" sz="1100">
                <a:sym typeface="+mn-ea"/>
              </a:rPr>
              <a:t>输出物均为必需具备产出物并整理归档；</a:t>
            </a:r>
            <a:endParaRPr lang="en-US" altLang="zh-CN" sz="11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ym typeface="+mn-ea"/>
              </a:rPr>
              <a:t>2.</a:t>
            </a:r>
            <a:r>
              <a:rPr lang="en-US" altLang="zh-CN" sz="1100">
                <a:sym typeface="+mn-ea"/>
              </a:rPr>
              <a:t>项目设计图、技术任务书审查需经技术组讨论会审后会签确定；</a:t>
            </a:r>
            <a:endParaRPr lang="en-US" altLang="zh-CN" sz="1100">
              <a:sym typeface="+mn-ea"/>
            </a:endParaRPr>
          </a:p>
        </p:txBody>
      </p:sp>
      <p:cxnSp>
        <p:nvCxnSpPr>
          <p:cNvPr id="92" name="肘形连接符 91"/>
          <p:cNvCxnSpPr/>
          <p:nvPr/>
        </p:nvCxnSpPr>
        <p:spPr>
          <a:xfrm rot="10800000" flipV="1">
            <a:off x="3556000" y="2421890"/>
            <a:ext cx="3175" cy="772160"/>
          </a:xfrm>
          <a:prstGeom prst="bentConnector3">
            <a:avLst>
              <a:gd name="adj1" fmla="val 5860000"/>
            </a:avLst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/>
          <p:nvPr/>
        </p:nvCxnSpPr>
        <p:spPr>
          <a:xfrm>
            <a:off x="5132070" y="2807970"/>
            <a:ext cx="3175" cy="1127760"/>
          </a:xfrm>
          <a:prstGeom prst="bentConnector3">
            <a:avLst>
              <a:gd name="adj1" fmla="val 5780000"/>
            </a:avLst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4340891" y="6703033"/>
            <a:ext cx="1905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0240"/>
          <p:cNvSpPr txBox="1"/>
          <p:nvPr/>
        </p:nvSpPr>
        <p:spPr>
          <a:xfrm>
            <a:off x="1270000" y="189230"/>
            <a:ext cx="3871595" cy="635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800" b="1" dirty="0" err="1">
                <a:latin typeface="微软雅黑" panose="020B0503020204020204" charset="-122"/>
                <a:ea typeface="微软雅黑" panose="020B0503020204020204" charset="-122"/>
              </a:rPr>
              <a:t>项目标准流程</a:t>
            </a:r>
            <a:r>
              <a:rPr lang="zh-CN" altLang="en-US" sz="1800" b="1" dirty="0" err="1">
                <a:latin typeface="微软雅黑" panose="020B0503020204020204" charset="-122"/>
                <a:ea typeface="微软雅黑" panose="020B0503020204020204" charset="-122"/>
              </a:rPr>
              <a:t>（续）</a:t>
            </a:r>
            <a:endParaRPr lang="zh-CN" altLang="en-US" sz="1800" b="1" dirty="0" err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59810" y="1542415"/>
            <a:ext cx="786774" cy="3930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设备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到货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58460" y="1542415"/>
            <a:ext cx="670791" cy="61783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96430" y="1542389"/>
            <a:ext cx="497641" cy="6178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按采购合同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>
            <p:custDataLst>
              <p:tags r:id="rId1"/>
            </p:custDataLst>
          </p:nvPr>
        </p:nvGraphicFramePr>
        <p:xfrm>
          <a:off x="317500" y="1094105"/>
          <a:ext cx="1160653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345"/>
                <a:gridCol w="1595120"/>
                <a:gridCol w="2085975"/>
                <a:gridCol w="1609725"/>
                <a:gridCol w="1041400"/>
                <a:gridCol w="1728470"/>
                <a:gridCol w="2182495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项目阶段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前置条件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业务流程名称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角色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标准周期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产出物</a:t>
                      </a:r>
                      <a:r>
                        <a:rPr lang="en-US" alt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过程文档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要求</a:t>
                      </a: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4423413" y="1551328"/>
            <a:ext cx="709927" cy="3841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施工方案评审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95941" y="1542389"/>
            <a:ext cx="699524" cy="617881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542358" y="1542389"/>
            <a:ext cx="449752" cy="6178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9810" y="230949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458460" y="2309495"/>
            <a:ext cx="1437005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现场负责人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96430" y="230949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按采购合同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58540" y="269557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调试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457190" y="2695575"/>
            <a:ext cx="1437005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技术负责人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995160" y="269557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按采购合同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4345305" y="2534285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556635" y="308165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项目交付运行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55285" y="3081655"/>
            <a:ext cx="1437005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技术负责人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993255" y="308165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charset="0"/>
                <a:ea typeface="微软雅黑" charset="0"/>
              </a:rPr>
              <a:t>5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4343400" y="2920365"/>
            <a:ext cx="1905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3558540" y="3449320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项目验收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457190" y="3449320"/>
            <a:ext cx="1437005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995160" y="3449320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按采购合同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4343400" y="3306445"/>
            <a:ext cx="1905" cy="14287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3558540" y="3823335"/>
            <a:ext cx="1573530" cy="2247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项目评估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457190" y="3823335"/>
            <a:ext cx="1437005" cy="224790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995160" y="3823335"/>
            <a:ext cx="995680" cy="2247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验收后</a:t>
            </a:r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天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4345305" y="3674110"/>
            <a:ext cx="0" cy="149225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3557270" y="4387215"/>
            <a:ext cx="697865" cy="6108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设备</a:t>
            </a:r>
            <a:r>
              <a:rPr lang="en-US" alt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配件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质保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455920" y="4387247"/>
            <a:ext cx="673315" cy="594295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经理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993890" y="4370705"/>
            <a:ext cx="995680" cy="6108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l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按质保周期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423410" y="4387215"/>
            <a:ext cx="705485" cy="6108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技术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effectLst/>
                <a:latin typeface="微软雅黑" panose="020B0503020204020204" charset="-122"/>
                <a:ea typeface="微软雅黑" panose="020B0503020204020204" charset="-122"/>
              </a:rPr>
              <a:t>支持</a:t>
            </a:r>
            <a:endParaRPr lang="zh-CN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195895" y="4387247"/>
            <a:ext cx="695125" cy="594328"/>
          </a:xfrm>
          <a:prstGeom prst="rect">
            <a:avLst/>
          </a:prstGeo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effectLst/>
                <a:latin typeface="微软雅黑" panose="020B0503020204020204" charset="-122"/>
                <a:ea typeface="微软雅黑" panose="020B0503020204020204" charset="-122"/>
              </a:rPr>
              <a:t>工程师</a:t>
            </a:r>
            <a:endParaRPr lang="zh-CN" altLang="en-US" sz="120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35280" y="1538605"/>
            <a:ext cx="1305560" cy="2510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800"/>
              <a:t>3.</a:t>
            </a:r>
            <a:r>
              <a:rPr lang="zh-CN" altLang="en-US" sz="1800"/>
              <a:t>项目实施</a:t>
            </a:r>
            <a:endParaRPr lang="zh-CN" altLang="en-US" sz="1800"/>
          </a:p>
        </p:txBody>
      </p:sp>
      <p:sp>
        <p:nvSpPr>
          <p:cNvPr id="85" name="矩形 84"/>
          <p:cNvSpPr/>
          <p:nvPr/>
        </p:nvSpPr>
        <p:spPr>
          <a:xfrm>
            <a:off x="1685925" y="1538605"/>
            <a:ext cx="1511935" cy="2510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</a:pPr>
            <a:r>
              <a:rPr lang="zh-CN" altLang="en-US" sz="1200">
                <a:sym typeface="+mn-ea"/>
              </a:rPr>
              <a:t>采购</a:t>
            </a:r>
            <a:r>
              <a:rPr lang="en-US" altLang="zh-CN" sz="1200">
                <a:sym typeface="+mn-ea"/>
              </a:rPr>
              <a:t>/</a:t>
            </a:r>
            <a:r>
              <a:rPr lang="zh-CN" altLang="en-US" sz="1200">
                <a:sym typeface="+mn-ea"/>
              </a:rPr>
              <a:t>施工合同签订</a:t>
            </a:r>
            <a:endParaRPr lang="en-US" altLang="zh-CN" sz="1200">
              <a:sym typeface="+mn-ea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35280" y="4370677"/>
            <a:ext cx="1305560" cy="6280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/>
              <a:t>4.</a:t>
            </a:r>
            <a:r>
              <a:rPr lang="zh-CN" altLang="en-US" sz="1800"/>
              <a:t>项目质保</a:t>
            </a:r>
            <a:endParaRPr lang="zh-CN" altLang="en-US" sz="1800"/>
          </a:p>
        </p:txBody>
      </p:sp>
      <p:sp>
        <p:nvSpPr>
          <p:cNvPr id="87" name="矩形 86"/>
          <p:cNvSpPr/>
          <p:nvPr/>
        </p:nvSpPr>
        <p:spPr>
          <a:xfrm>
            <a:off x="1685925" y="4387247"/>
            <a:ext cx="1511935" cy="6108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zh-CN" altLang="en-US" sz="1400">
                <a:sym typeface="+mn-ea"/>
              </a:rPr>
              <a:t>项目终验报告</a:t>
            </a:r>
            <a:endParaRPr lang="zh-CN" altLang="en-US" sz="1400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8041005" y="1542389"/>
            <a:ext cx="1659890" cy="25063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1、设备到货签收单；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2、项目施工方案及安全预案；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3、施工作业票；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4、施工报告；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5、施工会议纪要；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6、设备技术档案；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7、系统操作手册；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8、项目试运行交付单；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9、项目验收报告；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10、项目评估报告；</a:t>
            </a:r>
            <a:endParaRPr lang="en-US" altLang="zh-CN">
              <a:latin typeface="Arial" panose="020B0604020202020204" pitchFamily="34" charset="0"/>
              <a:sym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9752965" y="1542389"/>
            <a:ext cx="2160270" cy="25057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《设备到货签收单》、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《项目施工安全预案》、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《施工作业票》、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《系统操作手册》、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《设备技术档案》、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《项目完工交付单》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《项目终验报告》、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《项目评估报告》</a:t>
            </a:r>
            <a:endParaRPr lang="en-US" altLang="zh-CN" sz="1100">
              <a:solidFill>
                <a:schemeClr val="lt1"/>
              </a:solidFill>
              <a:latin typeface="Arial" panose="020B0604020202020204" pitchFamily="34" charset="0"/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100">
                <a:solidFill>
                  <a:schemeClr val="lt1"/>
                </a:solidFill>
                <a:latin typeface="Arial" panose="020B0604020202020204" pitchFamily="34" charset="0"/>
                <a:sym typeface="+mn-ea"/>
              </a:rPr>
              <a:t>为必要产出物；</a:t>
            </a:r>
            <a:endParaRPr lang="en-US" altLang="zh-CN">
              <a:sym typeface="+mn-ea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8040370" y="4370677"/>
            <a:ext cx="1661160" cy="6108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、项目技术服务登记表</a:t>
            </a:r>
            <a:endParaRPr lang="zh-CN" altLang="en-US" sz="10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、质保记录表</a:t>
            </a:r>
            <a:endParaRPr lang="zh-CN" altLang="en-US" sz="1000">
              <a:sym typeface="+mn-ea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752965" y="4370677"/>
            <a:ext cx="2159635" cy="6286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buClrTx/>
              <a:buSzTx/>
            </a:pP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、对设备及配件的质保进行登记，并记录质保情况；</a:t>
            </a:r>
            <a:endParaRPr lang="zh-CN" altLang="en-US" sz="1000">
              <a:sym typeface="+mn-ea"/>
            </a:endParaRPr>
          </a:p>
          <a:p>
            <a:pPr lvl="0" algn="l">
              <a:buClrTx/>
              <a:buSzTx/>
            </a:pP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、建立项目质保期技术服务档案，记录技术服务支持情况；</a:t>
            </a:r>
            <a:endParaRPr lang="zh-CN" altLang="en-US" sz="1000">
              <a:sym typeface="+mn-ea"/>
            </a:endParaRPr>
          </a:p>
        </p:txBody>
      </p:sp>
      <p:cxnSp>
        <p:nvCxnSpPr>
          <p:cNvPr id="2" name="肘形连接符 1"/>
          <p:cNvCxnSpPr/>
          <p:nvPr/>
        </p:nvCxnSpPr>
        <p:spPr>
          <a:xfrm rot="5400000">
            <a:off x="3956050" y="3997960"/>
            <a:ext cx="339090" cy="438785"/>
          </a:xfrm>
          <a:prstGeom prst="bentConnector3">
            <a:avLst>
              <a:gd name="adj1" fmla="val 49906"/>
            </a:avLst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肘形连接符 4"/>
          <p:cNvCxnSpPr/>
          <p:nvPr/>
        </p:nvCxnSpPr>
        <p:spPr>
          <a:xfrm rot="5400000" flipV="1">
            <a:off x="4391025" y="4001770"/>
            <a:ext cx="339090" cy="431165"/>
          </a:xfrm>
          <a:prstGeom prst="bentConnector3">
            <a:avLst>
              <a:gd name="adj1" fmla="val 49906"/>
            </a:avLst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肘形连接符 5"/>
          <p:cNvCxnSpPr>
            <a:stCxn id="3" idx="2"/>
            <a:endCxn id="25" idx="0"/>
          </p:cNvCxnSpPr>
          <p:nvPr userDrawn="1"/>
        </p:nvCxnSpPr>
        <p:spPr>
          <a:xfrm rot="5400000" flipV="1">
            <a:off x="3963035" y="1925955"/>
            <a:ext cx="374015" cy="393065"/>
          </a:xfrm>
          <a:prstGeom prst="bentConnector3">
            <a:avLst>
              <a:gd name="adj1" fmla="val 50085"/>
            </a:avLst>
          </a:prstGeom>
          <a:ln w="19050">
            <a:solidFill>
              <a:srgbClr val="FFC000">
                <a:alpha val="10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肘形连接符 6"/>
          <p:cNvCxnSpPr>
            <a:stCxn id="20" idx="2"/>
            <a:endCxn id="25" idx="0"/>
          </p:cNvCxnSpPr>
          <p:nvPr userDrawn="1"/>
        </p:nvCxnSpPr>
        <p:spPr>
          <a:xfrm rot="5400000">
            <a:off x="4375468" y="1906588"/>
            <a:ext cx="374015" cy="431800"/>
          </a:xfrm>
          <a:prstGeom prst="bentConnector3">
            <a:avLst>
              <a:gd name="adj1" fmla="val 50000"/>
            </a:avLst>
          </a:prstGeom>
          <a:ln w="19050">
            <a:solidFill>
              <a:srgbClr val="FFC000">
                <a:alpha val="100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3953186" y="1381099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4778399" y="1381101"/>
            <a:ext cx="1270" cy="161290"/>
          </a:xfrm>
          <a:prstGeom prst="straightConnector1">
            <a:avLst/>
          </a:prstGeom>
          <a:noFill/>
          <a:ln w="19050" cap="flat" cmpd="sng" algn="ctr">
            <a:solidFill>
              <a:srgbClr val="FFC000">
                <a:alpha val="100000"/>
              </a:srgbClr>
            </a:solidFill>
            <a:prstDash val="solid"/>
            <a:miter lim="800000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0240"/>
          <p:cNvSpPr txBox="1"/>
          <p:nvPr/>
        </p:nvSpPr>
        <p:spPr>
          <a:xfrm>
            <a:off x="1270000" y="189230"/>
            <a:ext cx="573278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800" b="1" dirty="0" err="1">
                <a:latin typeface="微软雅黑" panose="020B0503020204020204" charset="-122"/>
                <a:ea typeface="微软雅黑" panose="020B0503020204020204" charset="-122"/>
              </a:rPr>
              <a:t>项目成本管理</a:t>
            </a:r>
            <a:r>
              <a:rPr lang="zh-CN" altLang="en-US" sz="1800" b="1" dirty="0" err="1">
                <a:latin typeface="微软雅黑" panose="020B0503020204020204" charset="-122"/>
                <a:ea typeface="微软雅黑" panose="020B0503020204020204" charset="-122"/>
              </a:rPr>
              <a:t>（预算及核算）</a:t>
            </a:r>
            <a:endParaRPr lang="zh-CN" altLang="en-US" sz="1800" b="1" dirty="0" err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35280" y="1268730"/>
          <a:ext cx="11475720" cy="441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1479550"/>
                <a:gridCol w="2386965"/>
                <a:gridCol w="3149600"/>
                <a:gridCol w="4022725"/>
              </a:tblGrid>
              <a:tr h="36385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序号</a:t>
                      </a:r>
                      <a:endParaRPr lang="zh-CN" altLang="en-US" sz="14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成本类别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成本说明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成本管理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356235">
                <a:tc vMerge="1">
                  <a:tcPr anchor="ctr" anchorCtr="0"/>
                </a:tc>
                <a:tc vMerge="1">
                  <a:tcPr anchor="ctr" anchorCtr="0"/>
                </a:tc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预算管理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核算管理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1040779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设计费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技术咨询与调研、方案设计、评审、详细设计、软件编程及调试、预算与文件编制、现场技术服务、外聘专家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机构费等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根据技改项目类型及技术复杂系数按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2.5~6%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（设备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安装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）的比例计算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内部人员按实际统计的工时及单价成本核算；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外聘专家或第三方机构按签订的合同协议核算；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  <a:tr h="928887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2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设备材料采购费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招标采购及集中采购，按合同金额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质保材料费（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3-5%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合同总额）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根据项目方案及市场调研编制设备及材料采购预算。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按采购合同累计核算。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  <a:tr h="928887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3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安装调试费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组装施工、安装调试、试运行、劳务外包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根据项目方案及市场调研编制安装调试费预算。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按签订的安装合同累计核算。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  <a:tr h="7988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4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项目管理费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项目业务办理、差旅费、项目施工及现场管理、售后服务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按项目投入人力预估工时，按工时单价预算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P7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岗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800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元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en-US" altLang="zh-CN" sz="120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8h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P6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及以下岗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600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元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en-US" altLang="zh-CN" sz="120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8h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项目管理及现场费：按实际统计投入项目的工时由人力及财务核算内部人力成本；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差旅费：按实际支出的项目差旅费由财务进行核算。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0240"/>
          <p:cNvSpPr txBox="1"/>
          <p:nvPr/>
        </p:nvSpPr>
        <p:spPr>
          <a:xfrm>
            <a:off x="1270000" y="189230"/>
            <a:ext cx="631952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800" b="1" dirty="0" err="1">
                <a:latin typeface="微软雅黑" panose="020B0503020204020204" charset="-122"/>
                <a:ea typeface="微软雅黑" panose="020B0503020204020204" charset="-122"/>
              </a:rPr>
              <a:t>项目成本管理</a:t>
            </a:r>
            <a:r>
              <a:rPr lang="zh-CN" altLang="en-US" sz="1800" b="1" dirty="0" err="1">
                <a:latin typeface="微软雅黑" panose="020B0503020204020204" charset="-122"/>
                <a:ea typeface="微软雅黑" panose="020B0503020204020204" charset="-122"/>
              </a:rPr>
              <a:t>（设计费预算比例标准）</a:t>
            </a:r>
            <a:endParaRPr lang="zh-CN" altLang="en-US" sz="1800" b="1" dirty="0" err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35280" y="1268730"/>
          <a:ext cx="11475721" cy="4959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626"/>
                <a:gridCol w="1215902"/>
                <a:gridCol w="1069225"/>
                <a:gridCol w="959664"/>
                <a:gridCol w="3394152"/>
                <a:gridCol w="3394152"/>
              </a:tblGrid>
              <a:tr h="3638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项目类型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投资额区间（万元）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设计费基准费率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技术复杂系数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设计费用构成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409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A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类</a:t>
                      </a: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 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节能改造项目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I≤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4.5%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1.0-1.3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涉及工艺优化、能源系统集成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rowSpan="9"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技术咨询与调研费：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项目前期调研、现场勘察、数据收集、可行性研究分析。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方案设计费：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技术路线比选、方案编制、技术经济论证。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评审费：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组织内部技术评审、外部专家评审会产生的费用。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详细设计费：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工艺包设计、施工图设计、三维建模、软件编程、控制系统逻辑设计等。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预算与文件编制费：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项目投资预算编制、技术规范书、招标技术文件编制。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现场技术服务费：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设计交底、施工配合、现场设计变更处理（基础次数内）。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外聘专家</a:t>
                      </a: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机构费：</a:t>
                      </a: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为特定技术难题聘请的外部专家咨询费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4988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30&lt;I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≤200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3.5%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1.0-1.4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中型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节能改造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765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200&lt;I</a:t>
                      </a:r>
                      <a:endParaRPr lang="zh-CN" altLang="en-US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1.0-1.5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大型节能系统改造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B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类</a:t>
                      </a: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 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装备改善项目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I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≤10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1.0-1.2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单一设备升级、换代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100&lt;I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≤300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4%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1.0-1.3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多设备升级、换代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300&lt;I</a:t>
                      </a:r>
                      <a:endParaRPr lang="zh-CN" altLang="en-US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1.0-1.4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生产线整体装备升级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C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类</a:t>
                      </a:r>
                      <a:r>
                        <a:rPr lang="en-US" altLang="zh-CN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 </a:t>
                      </a:r>
                      <a:r>
                        <a:rPr lang="zh-CN" altLang="en-US" sz="1200" b="1">
                          <a:latin typeface="微软雅黑" charset="0"/>
                          <a:ea typeface="微软雅黑" charset="0"/>
                          <a:cs typeface="微软雅黑" charset="0"/>
                        </a:rPr>
                        <a:t>安全及综合性技改项目</a:t>
                      </a:r>
                      <a:endParaRPr lang="zh-CN" altLang="en-US" sz="1200" b="1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I≤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5.5%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1.0-1.2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涉及标准符合性、安全系统设计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30&lt;I</a:t>
                      </a: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≤200</a:t>
                      </a:r>
                      <a:endParaRPr lang="en-US" altLang="zh-CN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4.5%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1.0-1.3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生产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流程安全系统技改或升级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35941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b="0"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200&lt;I</a:t>
                      </a:r>
                      <a:endParaRPr lang="zh-CN" altLang="en-US" sz="14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3.5%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1.0-1.4</a:t>
                      </a:r>
                      <a:endParaRPr lang="en-US" altLang="zh-CN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全厂性安全系统升级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1119505">
                <a:tc gridSpan="6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技术复杂系数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用于调整基准费率，反映项目的技术难度。由技术评审委员会在立项评审时确定。影响因素包括：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K1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：技术创新度（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0.9-1.3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）：采用全新工艺、技术或材料的程度。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K2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：设计条件复杂性（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0.9-1.2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）：现场条件限制、不停产施工、多专业交叉程度。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K3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：设计深度要求（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0.9-1.2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）：是否需要三维设计、仿真模拟、数字化交付等。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总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K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值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 = K1 </a:t>
                      </a:r>
                      <a:r>
                        <a:rPr lang="en-US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×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 K2 </a:t>
                      </a:r>
                      <a:r>
                        <a:rPr lang="en-US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×</a:t>
                      </a:r>
                      <a:r>
                        <a:rPr lang="en-US" altLang="zh-CN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 K3</a:t>
                      </a:r>
                      <a:r>
                        <a:rPr lang="zh-CN" altLang="en-US" sz="12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，取值区间见上表。</a:t>
                      </a:r>
                      <a:endParaRPr lang="zh-CN" altLang="en-US" sz="12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t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10240"/>
          <p:cNvSpPr txBox="1"/>
          <p:nvPr/>
        </p:nvSpPr>
        <p:spPr>
          <a:xfrm>
            <a:off x="1270000" y="189230"/>
            <a:ext cx="3656710" cy="6350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pPr defTabSz="914400" hangingPunct="0"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800" b="1" dirty="0" err="1"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2800" b="1" dirty="0" err="1">
                <a:solidFill>
                  <a:srgbClr val="000000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管理绩效考核</a:t>
            </a:r>
            <a:endParaRPr lang="zh-CN" altLang="en-US" sz="1800" b="1" dirty="0" err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35280" y="1268730"/>
          <a:ext cx="11414125" cy="2836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87"/>
                <a:gridCol w="1623382"/>
                <a:gridCol w="572959"/>
                <a:gridCol w="5894527"/>
                <a:gridCol w="2020370"/>
              </a:tblGrid>
              <a:tr h="3600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角色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考核</a:t>
                      </a: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维度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权重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</a:t>
                      </a: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指标</a:t>
                      </a: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(KPI)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来源</a:t>
                      </a:r>
                      <a:r>
                        <a:rPr lang="en-US" altLang="zh-CN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/</a:t>
                      </a:r>
                      <a:r>
                        <a:rPr lang="zh-CN" altLang="en-US" sz="14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说明</a:t>
                      </a:r>
                      <a:endParaRPr lang="zh-CN" altLang="en-US" sz="1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33718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项目</a:t>
                      </a:r>
                      <a:r>
                        <a:rPr lang="zh-CN" altLang="en-US" sz="1400" b="1">
                          <a:cs typeface="Arial" panose="020B0604020202020204" pitchFamily="34" charset="0"/>
                        </a:rPr>
                        <a:t>经理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0"/>
                        </a:rPr>
                        <a:t>成果（硬指标）</a:t>
                      </a:r>
                      <a:endParaRPr lang="en-US" altLang="zh-CN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50%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 </a:t>
                      </a:r>
                      <a:r>
                        <a:rPr lang="zh-CN" altLang="en-US" sz="1000"/>
                        <a:t>项目目标达成率（</a:t>
                      </a:r>
                      <a:r>
                        <a:rPr lang="en-US" altLang="zh-CN" sz="1000"/>
                        <a:t>20%</a:t>
                      </a:r>
                      <a:r>
                        <a:rPr lang="zh-CN" altLang="en-US" sz="1000"/>
                        <a:t>）：对比《项目任务书》，核心性能指标（如节能量、安全等级）达成情况；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 </a:t>
                      </a:r>
                      <a:r>
                        <a:rPr lang="zh-CN" altLang="en-US" sz="1000"/>
                        <a:t>项目成本偏差率（</a:t>
                      </a:r>
                      <a:r>
                        <a:rPr lang="en-US" altLang="zh-CN" sz="1000"/>
                        <a:t>10%</a:t>
                      </a:r>
                      <a:r>
                        <a:rPr lang="zh-CN" altLang="en-US" sz="1000"/>
                        <a:t>）：（实际总成本</a:t>
                      </a:r>
                      <a:r>
                        <a:rPr lang="en-US" altLang="zh-CN" sz="1000"/>
                        <a:t> - </a:t>
                      </a:r>
                      <a:r>
                        <a:rPr lang="zh-CN" altLang="en-US" sz="1000"/>
                        <a:t>批准预算）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批准预算。目标：</a:t>
                      </a:r>
                      <a:r>
                        <a:rPr lang="en-US" altLang="zh-CN" sz="1000"/>
                        <a:t>-5% ~ +3%</a:t>
                      </a:r>
                      <a:endParaRPr lang="en-US" altLang="zh-CN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3. </a:t>
                      </a:r>
                      <a:r>
                        <a:rPr lang="zh-CN" altLang="en-US" sz="1000"/>
                        <a:t>项目进度偏差率（</a:t>
                      </a:r>
                      <a:r>
                        <a:rPr lang="en-US" altLang="zh-CN" sz="1000"/>
                        <a:t>10%</a:t>
                      </a:r>
                      <a:r>
                        <a:rPr lang="zh-CN" altLang="en-US" sz="1000"/>
                        <a:t>）：（实际工期</a:t>
                      </a:r>
                      <a:r>
                        <a:rPr lang="en-US" altLang="zh-CN" sz="1000"/>
                        <a:t> - </a:t>
                      </a:r>
                      <a:r>
                        <a:rPr lang="zh-CN" altLang="en-US" sz="1000"/>
                        <a:t>计划工期）</a:t>
                      </a:r>
                      <a:r>
                        <a:rPr lang="en-US" altLang="zh-CN" sz="1000"/>
                        <a:t>/ </a:t>
                      </a:r>
                      <a:r>
                        <a:rPr lang="zh-CN" altLang="en-US" sz="1000"/>
                        <a:t>计划工期。目标：</a:t>
                      </a:r>
                      <a:r>
                        <a:rPr lang="en-US" altLang="zh-CN" sz="1000"/>
                        <a:t>≤ 5%</a:t>
                      </a:r>
                      <a:endParaRPr lang="en-US" altLang="zh-CN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4. </a:t>
                      </a:r>
                      <a:r>
                        <a:rPr lang="zh-CN" altLang="en-US" sz="1000"/>
                        <a:t>项目质量与安全（</a:t>
                      </a:r>
                      <a:r>
                        <a:rPr lang="en-US" altLang="zh-CN" sz="1000"/>
                        <a:t>10%</a:t>
                      </a:r>
                      <a:r>
                        <a:rPr lang="zh-CN" altLang="en-US" sz="1000"/>
                        <a:t>）：一次性验收通过率；项目期内安全责任事故发生次数（目标：</a:t>
                      </a:r>
                      <a:r>
                        <a:rPr lang="en-US" altLang="zh-CN" sz="1000"/>
                        <a:t>0</a:t>
                      </a:r>
                      <a:r>
                        <a:rPr lang="zh-CN" altLang="en-US" sz="1000"/>
                        <a:t>）。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验收报告、测试数据。</a:t>
                      </a:r>
                      <a:endParaRPr lang="zh-CN" altLang="en-US" sz="1000"/>
                    </a:p>
                  </a:txBody>
                  <a:tcPr anchor="ctr" anchorCtr="0"/>
                </a:tc>
              </a:tr>
              <a:tr h="345440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过程管理（软实力）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30%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 </a:t>
                      </a:r>
                      <a:r>
                        <a:rPr lang="zh-CN" altLang="en-US" sz="1000"/>
                        <a:t>流程与制度遵从度（</a:t>
                      </a:r>
                      <a:r>
                        <a:rPr lang="zh-CN" altLang="en-US" sz="1000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-US" altLang="zh-CN" sz="10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-US" altLang="zh-CN" sz="1000"/>
                        <a:t>%</a:t>
                      </a:r>
                      <a:r>
                        <a:rPr lang="zh-CN" altLang="en-US" sz="1000"/>
                        <a:t>）：是否严格遵循立项、评审、变更、验收等关键流程。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 </a:t>
                      </a:r>
                      <a:r>
                        <a:rPr lang="zh-CN" altLang="en-US" sz="1000"/>
                        <a:t>风险管理与问题解决（</a:t>
                      </a:r>
                      <a:r>
                        <a:rPr lang="en-US" altLang="zh-CN" sz="1000"/>
                        <a:t>7%</a:t>
                      </a:r>
                      <a:r>
                        <a:rPr lang="zh-CN" altLang="en-US" sz="1000"/>
                        <a:t>）：风险识别及时性、应对措施有效性；重大问题闭环解决率。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3. </a:t>
                      </a:r>
                      <a:r>
                        <a:rPr lang="zh-CN" altLang="en-US" sz="1000"/>
                        <a:t>文档与信息管理（</a:t>
                      </a:r>
                      <a:r>
                        <a:rPr lang="en-US" altLang="zh-CN" sz="1000"/>
                        <a:t>7%</a:t>
                      </a:r>
                      <a:r>
                        <a:rPr lang="zh-CN" altLang="en-US" sz="1000"/>
                        <a:t>）：项目文档的完整性、准确性与及时归档率。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4. </a:t>
                      </a:r>
                      <a:r>
                        <a:rPr lang="zh-CN" altLang="en-US" sz="1000"/>
                        <a:t>沟通与协调（</a:t>
                      </a:r>
                      <a:r>
                        <a:rPr lang="en-US" altLang="zh-CN" sz="1000"/>
                        <a:t>6%</a:t>
                      </a:r>
                      <a:r>
                        <a:rPr lang="zh-CN" altLang="en-US" sz="1000"/>
                        <a:t>）：内外部沟通是否顺畅有效，干系人满意度。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PMO</a:t>
                      </a:r>
                      <a:r>
                        <a:rPr lang="zh-CN" altLang="en-US" sz="1000"/>
                        <a:t>过程审计记录。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风险登记册、问题跟踪表。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项目文档库检查。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干系人反馈、会议纪要。</a:t>
                      </a:r>
                      <a:endParaRPr lang="zh-CN" altLang="en-US" sz="1000"/>
                    </a:p>
                  </a:txBody>
                  <a:tcPr anchor="ctr" anchorCtr="0"/>
                </a:tc>
              </a:tr>
              <a:tr h="372745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团队与贡献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20%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 </a:t>
                      </a:r>
                      <a:r>
                        <a:rPr lang="zh-CN" altLang="en-US" sz="1000"/>
                        <a:t>团队建设与赋能（</a:t>
                      </a:r>
                      <a:r>
                        <a:rPr lang="en-US" altLang="zh-CN" sz="1000"/>
                        <a:t>8%</a:t>
                      </a:r>
                      <a:r>
                        <a:rPr lang="zh-CN" altLang="en-US" sz="1000"/>
                        <a:t>）：对项目成员的指导与培养情况。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 </a:t>
                      </a:r>
                      <a:r>
                        <a:rPr lang="zh-CN" altLang="en-US" sz="1000"/>
                        <a:t>知识沉淀与创新（</a:t>
                      </a:r>
                      <a:r>
                        <a:rPr lang="en-US" altLang="zh-CN" sz="1000"/>
                        <a:t>6%</a:t>
                      </a:r>
                      <a:r>
                        <a:rPr lang="zh-CN" altLang="en-US" sz="1000"/>
                        <a:t>）：是否主动进行项目复盘，并输出可复用的经验或技术成果（如标准作业程序、专利提案）。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3. </a:t>
                      </a:r>
                      <a:r>
                        <a:rPr lang="zh-CN" altLang="en-US" sz="1000"/>
                        <a:t>资源利用效率（</a:t>
                      </a:r>
                      <a:r>
                        <a:rPr lang="en-US" altLang="zh-CN" sz="1000"/>
                        <a:t>6%</a:t>
                      </a:r>
                      <a:r>
                        <a:rPr lang="zh-CN" altLang="en-US" sz="1000"/>
                        <a:t>）：对项目内外部资源的统筹与优化利用情况。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</a:t>
                      </a:r>
                      <a:r>
                        <a:rPr lang="zh-CN" altLang="en-US" sz="1000"/>
                        <a:t>成员反馈、培训记录。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</a:t>
                      </a:r>
                      <a:r>
                        <a:rPr lang="zh-CN" altLang="en-US" sz="1000"/>
                        <a:t>后评估报告、知识库贡献。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3.</a:t>
                      </a:r>
                      <a:r>
                        <a:rPr lang="zh-CN" altLang="en-US" sz="1000"/>
                        <a:t>资源利用率分析。</a:t>
                      </a:r>
                      <a:endParaRPr lang="zh-CN" altLang="en-US" sz="1000"/>
                    </a:p>
                  </a:txBody>
                  <a:tcPr anchor="ctr" anchorCtr="0"/>
                </a:tc>
              </a:tr>
              <a:tr h="35496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项目</a:t>
                      </a:r>
                      <a:r>
                        <a:rPr lang="zh-CN" altLang="en-US" sz="1400" b="1">
                          <a:cs typeface="Arial" panose="020B0604020202020204" pitchFamily="34" charset="0"/>
                        </a:rPr>
                        <a:t>核心人员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任务交付（硬指标）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60%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 </a:t>
                      </a:r>
                      <a:r>
                        <a:rPr lang="zh-CN" altLang="en-US" sz="1000"/>
                        <a:t>个人任务完成率与质量（</a:t>
                      </a:r>
                      <a:r>
                        <a:rPr lang="en-US" altLang="zh-CN" sz="1000"/>
                        <a:t>30%</a:t>
                      </a:r>
                      <a:r>
                        <a:rPr lang="zh-CN" altLang="en-US" sz="1000"/>
                        <a:t>）：分配的专业任务（如设计、调试）是否按时、按质完成。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 </a:t>
                      </a:r>
                      <a:r>
                        <a:rPr lang="zh-CN" altLang="en-US" sz="1000"/>
                        <a:t>技术问题解决贡献（</a:t>
                      </a:r>
                      <a:r>
                        <a:rPr lang="en-US" altLang="zh-CN" sz="1000"/>
                        <a:t>30%</a:t>
                      </a:r>
                      <a:r>
                        <a:rPr lang="zh-CN" altLang="en-US" sz="1000"/>
                        <a:t>）：在解决项目关键技术难题中的具体作用与成果。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项目经理评价（</a:t>
                      </a:r>
                      <a:r>
                        <a:rPr lang="en-US" altLang="zh-CN" sz="1000"/>
                        <a:t>70%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技术负责人</a:t>
                      </a:r>
                      <a:r>
                        <a:rPr lang="en-US" altLang="zh-CN" sz="1000"/>
                        <a:t>/PMO</a:t>
                      </a:r>
                      <a:r>
                        <a:rPr lang="zh-CN" altLang="en-US" sz="1000"/>
                        <a:t>评价（</a:t>
                      </a:r>
                      <a:r>
                        <a:rPr lang="en-US" altLang="zh-CN" sz="1000"/>
                        <a:t>30%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</a:txBody>
                  <a:tcPr anchor="ctr" anchorCtr="0"/>
                </a:tc>
              </a:tr>
              <a:tr h="355600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协作与执行（软实力）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/>
                        <a:t>40%</a:t>
                      </a: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1. </a:t>
                      </a:r>
                      <a:r>
                        <a:rPr lang="zh-CN" altLang="en-US" sz="1000"/>
                        <a:t>协作精神与主动性（</a:t>
                      </a:r>
                      <a:r>
                        <a:rPr lang="en-US" altLang="zh-CN" sz="1000"/>
                        <a:t>20%</a:t>
                      </a:r>
                      <a:r>
                        <a:rPr lang="zh-CN" altLang="en-US" sz="1000"/>
                        <a:t>）：在跨专业协作中的配合度与主动担当意识。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2. </a:t>
                      </a:r>
                      <a:r>
                        <a:rPr lang="zh-CN" altLang="en-US" sz="1000"/>
                        <a:t>规范遵守与纪律性（</a:t>
                      </a:r>
                      <a:r>
                        <a:rPr lang="en-US" altLang="zh-CN" sz="1000"/>
                        <a:t>10%</a:t>
                      </a:r>
                      <a:r>
                        <a:rPr lang="zh-CN" altLang="en-US" sz="1000"/>
                        <a:t>）：遵守项目纪律、安全规范、设计标准等情况。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en-US" altLang="zh-CN" sz="1000"/>
                        <a:t>3. </a:t>
                      </a:r>
                      <a:r>
                        <a:rPr lang="zh-CN" altLang="en-US" sz="1000"/>
                        <a:t>学习与成长（</a:t>
                      </a:r>
                      <a:r>
                        <a:rPr lang="en-US" altLang="zh-CN" sz="1000"/>
                        <a:t>10%</a:t>
                      </a:r>
                      <a:r>
                        <a:rPr lang="zh-CN" altLang="en-US" sz="1000"/>
                        <a:t>）：在项目中技能提升、知识分享的表现。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项目经理评价（</a:t>
                      </a:r>
                      <a:r>
                        <a:rPr lang="en-US" altLang="zh-CN" sz="1000"/>
                        <a:t>50%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项目经理</a:t>
                      </a:r>
                      <a:r>
                        <a:rPr lang="en-US" altLang="zh-CN" sz="1000"/>
                        <a:t>/PMO</a:t>
                      </a:r>
                      <a:r>
                        <a:rPr lang="zh-CN" altLang="en-US" sz="1000"/>
                        <a:t>评价（</a:t>
                      </a:r>
                      <a:r>
                        <a:rPr lang="en-US" altLang="zh-CN" sz="1000"/>
                        <a:t>30%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  <a:p>
                      <a:pPr algn="l">
                        <a:buNone/>
                      </a:pPr>
                      <a:r>
                        <a:rPr lang="zh-CN" altLang="en-US" sz="1000"/>
                        <a:t>团队成员互评（</a:t>
                      </a:r>
                      <a:r>
                        <a:rPr lang="en-US" altLang="zh-CN" sz="1000"/>
                        <a:t>20%</a:t>
                      </a:r>
                      <a:r>
                        <a:rPr lang="zh-CN" altLang="en-US" sz="1000"/>
                        <a:t>）</a:t>
                      </a:r>
                      <a:endParaRPr lang="zh-CN" altLang="en-US" sz="1000"/>
                    </a:p>
                  </a:txBody>
                  <a:tcPr anchor="ctr" anchorCtr="0"/>
                </a:tc>
              </a:tr>
              <a:tr h="3556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/>
                    </a:p>
                  </a:txBody>
                  <a:tcPr anchor="ctr" anchorCtr="0"/>
                </a:tc>
              </a:tr>
              <a:tr h="3549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1"/>
                        <a:t>绩效</a:t>
                      </a:r>
                      <a:r>
                        <a:rPr lang="zh-CN" altLang="en-US" sz="1200" b="1">
                          <a:cs typeface="Arial" panose="020B0604020202020204" pitchFamily="34" charset="0"/>
                        </a:rPr>
                        <a:t>等级划分</a:t>
                      </a:r>
                      <a:endParaRPr lang="zh-CN" altLang="en-US" sz="1200" b="1"/>
                    </a:p>
                  </a:txBody>
                  <a:tcPr anchor="ctr" anchorCtr="0"/>
                </a:tc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100" b="1"/>
                        <a:t>S</a:t>
                      </a:r>
                      <a:r>
                        <a:rPr lang="zh-CN" altLang="en-US" sz="1100" b="1"/>
                        <a:t>（卓越）：</a:t>
                      </a:r>
                      <a:r>
                        <a:rPr lang="en-US" altLang="zh-CN" sz="1100" b="1"/>
                        <a:t>≥ 95</a:t>
                      </a:r>
                      <a:r>
                        <a:rPr lang="zh-CN" altLang="en-US" sz="1100" b="1"/>
                        <a:t>分，超额完成目标，有突出贡献。</a:t>
                      </a:r>
                      <a:endParaRPr lang="zh-CN" altLang="en-US" sz="1100" b="1"/>
                    </a:p>
                    <a:p>
                      <a:pPr>
                        <a:buNone/>
                      </a:pPr>
                      <a:r>
                        <a:rPr lang="en-US" altLang="zh-CN" sz="1100" b="1"/>
                        <a:t>A</a:t>
                      </a:r>
                      <a:r>
                        <a:rPr lang="zh-CN" altLang="en-US" sz="1100" b="1"/>
                        <a:t>（优秀）：</a:t>
                      </a:r>
                      <a:r>
                        <a:rPr lang="en-US" altLang="zh-CN" sz="1100" b="1"/>
                        <a:t>85 - 94</a:t>
                      </a:r>
                      <a:r>
                        <a:rPr lang="zh-CN" altLang="en-US" sz="1100" b="1"/>
                        <a:t>分，全面达成目标，部分超出。</a:t>
                      </a:r>
                      <a:endParaRPr lang="zh-CN" altLang="en-US" sz="1100" b="1"/>
                    </a:p>
                    <a:p>
                      <a:pPr>
                        <a:buNone/>
                      </a:pPr>
                      <a:r>
                        <a:rPr lang="en-US" altLang="zh-CN" sz="1100" b="1"/>
                        <a:t>B</a:t>
                      </a:r>
                      <a:r>
                        <a:rPr lang="zh-CN" altLang="en-US" sz="1100" b="1"/>
                        <a:t>（良好）：</a:t>
                      </a:r>
                      <a:r>
                        <a:rPr lang="en-US" altLang="zh-CN" sz="1100" b="1"/>
                        <a:t>75 - 84</a:t>
                      </a:r>
                      <a:r>
                        <a:rPr lang="zh-CN" altLang="en-US" sz="1100" b="1"/>
                        <a:t>分，基本达成目标，无重大失误。</a:t>
                      </a:r>
                      <a:endParaRPr lang="zh-CN" altLang="en-US" sz="1100" b="1"/>
                    </a:p>
                    <a:p>
                      <a:pPr>
                        <a:buNone/>
                      </a:pPr>
                      <a:r>
                        <a:rPr lang="en-US" altLang="zh-CN" sz="1100" b="1"/>
                        <a:t>C</a:t>
                      </a:r>
                      <a:r>
                        <a:rPr lang="zh-CN" altLang="en-US" sz="1100" b="1"/>
                        <a:t>（合格）：</a:t>
                      </a:r>
                      <a:r>
                        <a:rPr lang="en-US" altLang="zh-CN" sz="1100" b="1"/>
                        <a:t>60 - 74</a:t>
                      </a:r>
                      <a:r>
                        <a:rPr lang="zh-CN" altLang="en-US" sz="1100" b="1"/>
                        <a:t>分，主要目标基本达成，存在需改进项。</a:t>
                      </a:r>
                      <a:endParaRPr lang="zh-CN" altLang="en-US" sz="1100" b="1"/>
                    </a:p>
                    <a:p>
                      <a:pPr>
                        <a:buNone/>
                      </a:pPr>
                      <a:r>
                        <a:rPr lang="en-US" altLang="zh-CN" sz="1100" b="1"/>
                        <a:t>D</a:t>
                      </a:r>
                      <a:r>
                        <a:rPr lang="zh-CN" altLang="en-US" sz="1100" b="1"/>
                        <a:t>（待改进）：</a:t>
                      </a:r>
                      <a:r>
                        <a:rPr lang="en-US" altLang="zh-CN" sz="1100" b="1"/>
                        <a:t>&lt; 60</a:t>
                      </a:r>
                      <a:r>
                        <a:rPr lang="zh-CN" altLang="en-US" sz="1100" b="1"/>
                        <a:t>分，目标达成差，存在重大失误。</a:t>
                      </a:r>
                      <a:endParaRPr lang="zh-CN" altLang="en-US" sz="1100" b="1"/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PLACING_PICTURE_USER_VIEWPORT" val="{&quot;height&quot;:2128,&quot;width&quot;:3852}"/>
</p:tagLst>
</file>

<file path=ppt/tags/tag2.xml><?xml version="1.0" encoding="utf-8"?>
<p:tagLst xmlns:p="http://schemas.openxmlformats.org/presentationml/2006/main">
  <p:tag name="KSO_WM_UNIT_PLACING_PICTURE_USER_VIEWPORT" val="{&quot;height&quot;:2128,&quot;width&quot;:3852}"/>
</p:tagLst>
</file>

<file path=ppt/tags/tag3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4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5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6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7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8.xml><?xml version="1.0" encoding="utf-8"?>
<p:tagLst xmlns:p="http://schemas.openxmlformats.org/presentationml/2006/main">
  <p:tag name="KSO_WM_DIAGRAM_VIRTUALLY_FRAME" val="{&quot;height&quot;:322.8624803149607,&quot;left&quot;:84.25,&quot;top&quot;:146.42503937007868,&quot;width&quot;:787.35}"/>
</p:tagLst>
</file>

<file path=ppt/tags/tag9.xml><?xml version="1.0" encoding="utf-8"?>
<p:tagLst xmlns:p="http://schemas.openxmlformats.org/presentationml/2006/main">
  <p:tag name="TABLE_ENDDRAG_ORIGIN_RECT" val="913*22"/>
  <p:tag name="TABLE_ENDDRAG_RECT" val="25*86*913*22"/>
</p:tagLst>
</file>

<file path=ppt/tags/tag10.xml><?xml version="1.0" encoding="utf-8"?>
<p:tagLst xmlns:p="http://schemas.openxmlformats.org/presentationml/2006/main">
  <p:tag name="TABLE_ENDDRAG_ORIGIN_RECT" val="913*22"/>
  <p:tag name="TABLE_ENDDRAG_RECT" val="25*86*913*22"/>
</p:tagLst>
</file>

<file path=ppt/tags/tag11.xml><?xml version="1.0" encoding="utf-8"?>
<p:tagLst xmlns:p="http://schemas.openxmlformats.org/presentationml/2006/main">
  <p:tag name="TABLE_ENDDRAG_ORIGIN_RECT" val="903*233"/>
  <p:tag name="TABLE_ENDDRAG_RECT" val="26*99*903*234"/>
</p:tagLst>
</file>

<file path=ppt/tags/tag12.xml><?xml version="1.0" encoding="utf-8"?>
<p:tagLst xmlns:p="http://schemas.openxmlformats.org/presentationml/2006/main">
  <p:tag name="TABLE_ENDDRAG_ORIGIN_RECT" val="903*233"/>
  <p:tag name="TABLE_ENDDRAG_RECT" val="26*99*903*234"/>
</p:tagLst>
</file>

<file path=ppt/tags/tag13.xml><?xml version="1.0" encoding="utf-8"?>
<p:tagLst xmlns:p="http://schemas.openxmlformats.org/presentationml/2006/main">
  <p:tag name="TABLE_ENDDRAG_ORIGIN_RECT" val="903*233"/>
  <p:tag name="TABLE_ENDDRAG_RECT" val="26*99*903*234"/>
</p:tagLst>
</file>

<file path=ppt/tags/tag14.xml><?xml version="1.0" encoding="utf-8"?>
<p:tagLst xmlns:p="http://schemas.openxmlformats.org/presentationml/2006/main">
  <p:tag name="resource_record_key" val="{&quot;13&quot;:[4364928,20042469,4364947,4722044],&quot;29&quot;:[50000049,50053044,50053008,5005305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6466</Words>
  <Application>WPS Office WWO_wpscloud_20260107185241-030cc62549</Application>
  <PresentationFormat/>
  <Paragraphs>633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Alibaba Sans Heavy</vt:lpstr>
      <vt:lpstr>汉仪书宋二KW</vt:lpstr>
      <vt:lpstr>微软雅黑</vt:lpstr>
      <vt:lpstr>Microsoft YaHei Bold</vt:lpstr>
      <vt:lpstr>微软雅黑 Light</vt:lpstr>
      <vt:lpstr>DejaVu Sans</vt:lpstr>
      <vt:lpstr>汉仪旗黑KW 55S</vt:lpstr>
      <vt:lpstr>等线</vt:lpstr>
      <vt:lpstr>Kingsoft Confetti</vt:lpstr>
      <vt:lpstr>汉仪中等线KW</vt:lpstr>
      <vt:lpstr>微软雅黑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陆宏东</cp:lastModifiedBy>
  <dcterms:created xsi:type="dcterms:W3CDTF">2026-01-14T03:03:49Z</dcterms:created>
  <dcterms:modified xsi:type="dcterms:W3CDTF">2026-01-14T03:03:49Z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PresentationFormat">
    <vt:lpwstr>全屏显示(4:3)</vt:lpwstr>
  </property>
  <property fmtid="{D5CDD505-2E9C-101B-9397-08002B2CF9AE}" pid="4" name="ICV">
    <vt:lpwstr>860F8368E3A74CF1A4BA0ACB55211CA5_13</vt:lpwstr>
  </property>
  <property fmtid="{D5CDD505-2E9C-101B-9397-08002B2CF9AE}" pid="5" name="KSOProductBuildVer">
    <vt:lpwstr>2052-12.9.0.24776</vt:lpwstr>
  </property>
  <property fmtid="{D5CDD505-2E9C-101B-9397-08002B2CF9AE}" pid="6" name="EagleCloud">
    <vt:lpwstr>61676334b4e8422151e43967553014381f5e06876ebe2bbce66cedec39aecaac9e60da91a32bcea9066488722440b91e6ac4a62393b6294b32f3ede86604167a39364240fb3cb2ed3f5b47b5a74b7b515c89c27cdaec28adc40848c2fa770601a411a7537561e1f748c885f4347719cbaa872ed60d5cb7b54b6c77ec3af06e9</vt:lpwstr>
  </property>
  <property fmtid="{D5CDD505-2E9C-101B-9397-08002B2CF9AE}" pid="7" name="EagleCloud1">
    <vt:lpwstr>c468bdc5bd31635cf9eb4f5f366c816ae3e642e8dc6093dd4393ec109a6f5c745d56e5ffe93c3fd418e5c967d7e51d5663eb6e321c65c07f33b5565e0041c44898abed16cb8b44db65e5fe04b7b5485d0b38379442b5211035d0725354a02fcda91ccc760d07aacfc3871c192be1cb5527ca29cc58ccf20d4c827a648486eca</vt:lpwstr>
  </property>
  <property fmtid="{D5CDD505-2E9C-101B-9397-08002B2CF9AE}" pid="8" name="EagleCloud2">
    <vt:lpwstr>f98262f237ff69813ffcc2eb6958957fe012cc08dd3b01e46768cac59c1b96eb0a4d68bfc9c3b548f12f9a26f50716e21497fc766fd053e346397c9fce8d32525465e48d864d1c765641f7b01aee3754b07ce305cf5a53f75e7e73cc3f112c1dbeee8e4abf297cfa5681b62ab0f44871f6cf42c4ab35e444cdd95d1c7d0a058</vt:lpwstr>
  </property>
  <property fmtid="{D5CDD505-2E9C-101B-9397-08002B2CF9AE}" pid="9" name="EagleCloud3">
    <vt:lpwstr>94b43d3784373c2d1dfb4628992988cc4a52f552c8f735936c4058c8f3e24aa8a959cd08908c06505470c89a82771b0dea7344230de97d472f0c840411325cdc7252b24045ee2a998393cc9667a4e7f129f</vt:lpwstr>
  </property>
</Properties>
</file>